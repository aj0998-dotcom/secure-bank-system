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62" d="100"/>
          <a:sy n="162" d="100"/>
        </p:scale>
        <p:origin x="144" y="15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df999678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g3f6df999678_2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g3f6df999678_2_7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6df999678_2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3f6df999678_2_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3f6df999678_2_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6df999678_2_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g3f6df999678_2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6df999678_2_1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3f6df999678_2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6df999678_2_1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g3f6df999678_2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6df999678_2_1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3f6df999678_2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6df999678_2_1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g3f6df999678_2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6df999678_2_1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g3f6df999678_2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6df999678_2_1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g3f6df999678_2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6df999678_2_1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g3f6df999678_2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9958374?utm_source=chatgpt.com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252663" y="240883"/>
            <a:ext cx="3249300" cy="4634700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13" descr="Logo, company nam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06578" y="345964"/>
            <a:ext cx="4311182" cy="2225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Text&#10;&#10;Description automatically generated with low confidence"/>
          <p:cNvPicPr preferRelativeResize="0"/>
          <p:nvPr/>
        </p:nvPicPr>
        <p:blipFill rotWithShape="1">
          <a:blip r:embed="rId4">
            <a:alphaModFix/>
          </a:blip>
          <a:srcRect l="12259" t="15730" r="39436" b="26966"/>
          <a:stretch/>
        </p:blipFill>
        <p:spPr>
          <a:xfrm>
            <a:off x="4339289" y="2429558"/>
            <a:ext cx="3845760" cy="204926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272588" y="345974"/>
            <a:ext cx="3209400" cy="6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Times New Roman"/>
              <a:buNone/>
            </a:pPr>
            <a:r>
              <a:rPr lang="en"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SecureBank – Bank Management System</a:t>
            </a:r>
            <a:endParaRPr sz="2100" b="1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252650" y="2850769"/>
            <a:ext cx="3249300" cy="4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</a:pPr>
            <a:r>
              <a:rPr lang="en" sz="1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Supervisor Name: Dr. J.Subha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</a:pPr>
            <a:r>
              <a:rPr lang="e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Department: Computing Technologies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</a:pPr>
            <a:r>
              <a:rPr lang="en" sz="1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 AUGUST 2026</a:t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416850" y="1277475"/>
            <a:ext cx="2958300" cy="14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 :- 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Aditya Gupta (RA2411003010813)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Aditya Jain (RA2411003010098)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Lelihan Kumar (RA2411003010831)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Vishant (RA2411003010710)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627393" y="102394"/>
            <a:ext cx="7886700" cy="483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lang="en" sz="3000" b="1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r>
              <a:rPr lang="en" sz="3000" b="1"/>
              <a:t> </a:t>
            </a:r>
            <a:endParaRPr sz="3000" b="1"/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195943" y="774065"/>
            <a:ext cx="8743950" cy="4181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209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•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SecureBank is a secure database-driven Bank Management System designed to manage core banking entities including customers, branches, accounts, loans and financial transactions.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marL="177800" lvl="0" indent="-209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The system applies </a:t>
            </a:r>
            <a:r>
              <a:rPr lang="en" sz="1300" b="1">
                <a:latin typeface="Arial"/>
                <a:ea typeface="Arial"/>
                <a:cs typeface="Arial"/>
                <a:sym typeface="Arial"/>
              </a:rPr>
              <a:t>ER modeling, relational database design and normalization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to reduce redundancy and maintain data integrity. Advanced DBMS concepts including </a:t>
            </a:r>
            <a:r>
              <a:rPr lang="en" sz="1300" b="1">
                <a:latin typeface="Arial"/>
                <a:ea typeface="Arial"/>
                <a:cs typeface="Arial"/>
                <a:sym typeface="Arial"/>
              </a:rPr>
              <a:t>constraints, views, triggers, cursors and transaction management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are incorporated to support reliable banking operations.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marL="177800" lvl="0" indent="-209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The proposed system focuses on </a:t>
            </a:r>
            <a:r>
              <a:rPr lang="en" sz="1300" b="1">
                <a:latin typeface="Arial"/>
                <a:ea typeface="Arial"/>
                <a:cs typeface="Arial"/>
                <a:sym typeface="Arial"/>
              </a:rPr>
              <a:t>ACID-compliant transactions, concurrency control, recovery and role-based authentication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for secure and consistent processing of deposits, withdrawals, fund transfers and loan payments.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marL="177800" lvl="0" indent="-209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As an extension, SecureBank will support </a:t>
            </a:r>
            <a:r>
              <a:rPr lang="en" sz="1300" b="1">
                <a:latin typeface="Arial"/>
                <a:ea typeface="Arial"/>
                <a:cs typeface="Arial"/>
                <a:sym typeface="Arial"/>
              </a:rPr>
              <a:t>heterogeneous customer information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, including structured banking records along with photographs, e-signatures and KYC/supporting documents.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marL="177800" marR="381000" lvl="0" indent="-209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" sz="1300" b="1">
                <a:latin typeface="Arial"/>
                <a:ea typeface="Arial"/>
                <a:cs typeface="Arial"/>
                <a:sym typeface="Arial"/>
              </a:rPr>
              <a:t>The project aims to bridge the gap between theoretical transaction-management concepts and their practical implementation in a real-world banking application.</a:t>
            </a:r>
            <a:endParaRPr sz="1300" b="1">
              <a:latin typeface="Arial"/>
              <a:ea typeface="Arial"/>
              <a:cs typeface="Arial"/>
              <a:sym typeface="Arial"/>
            </a:endParaRPr>
          </a:p>
          <a:p>
            <a:pPr marL="177800" lvl="0" indent="0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dt" idx="10"/>
          </p:nvPr>
        </p:nvSpPr>
        <p:spPr>
          <a:xfrm>
            <a:off x="627400" y="48696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 August 2026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>
            <a:spLocks noGrp="1"/>
          </p:cNvSpPr>
          <p:nvPr>
            <p:ph type="title"/>
          </p:nvPr>
        </p:nvSpPr>
        <p:spPr>
          <a:xfrm>
            <a:off x="628650" y="102394"/>
            <a:ext cx="7886700" cy="452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r>
              <a:rPr lang="en"/>
              <a:t> </a:t>
            </a:r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body" idx="1"/>
          </p:nvPr>
        </p:nvSpPr>
        <p:spPr>
          <a:xfrm>
            <a:off x="163286" y="621127"/>
            <a:ext cx="8784771" cy="4283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13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Modern banking systems manage </a:t>
            </a:r>
            <a:r>
              <a:rPr lang="en" sz="1100" b="1">
                <a:latin typeface="Arial"/>
                <a:ea typeface="Arial"/>
                <a:cs typeface="Arial"/>
                <a:sym typeface="Arial"/>
              </a:rPr>
              <a:t>large volumes of interconnected and sensitive financial data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such as customer profiles, accounts, loans and transaction records.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Conventional or poorly integrated database systems may lead to </a:t>
            </a:r>
            <a:r>
              <a:rPr lang="en" sz="1100" b="1">
                <a:latin typeface="Arial"/>
                <a:ea typeface="Arial"/>
                <a:cs typeface="Arial"/>
                <a:sym typeface="Arial"/>
              </a:rPr>
              <a:t>data redundancy, inconsistency, weak traceability and security risks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Banking operations require reliable transaction processing where </a:t>
            </a:r>
            <a:r>
              <a:rPr lang="en" sz="1100" b="1">
                <a:latin typeface="Arial"/>
                <a:ea typeface="Arial"/>
                <a:cs typeface="Arial"/>
                <a:sym typeface="Arial"/>
              </a:rPr>
              <a:t>ACID properties, concurrency control and recovery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are essential to prevent incorrect financial states.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Customer information is also increasingly heterogeneous, including </a:t>
            </a:r>
            <a:r>
              <a:rPr lang="en" sz="1100" b="1">
                <a:latin typeface="Arial"/>
                <a:ea typeface="Arial"/>
                <a:cs typeface="Arial"/>
                <a:sym typeface="Arial"/>
              </a:rPr>
              <a:t>structured records, photographs, e-signatures and KYC documents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SecureBank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proposes a centralized database architecture that integrates </a:t>
            </a:r>
            <a:r>
              <a:rPr lang="en" sz="1100" b="1">
                <a:latin typeface="Arial"/>
                <a:ea typeface="Arial"/>
                <a:cs typeface="Arial"/>
                <a:sym typeface="Arial"/>
              </a:rPr>
              <a:t>secure data management, transaction processing, concurrency control and heterogeneous customer information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sz="1300" b="1">
              <a:latin typeface="Arial"/>
              <a:ea typeface="Arial"/>
              <a:cs typeface="Arial"/>
              <a:sym typeface="Arial"/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To design and implement a secure and transaction-aware banking database that maintains data integrity, supports concurrent financial operations, protects sensitive customer information and provides efficient management of structured and richer data.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177800" lvl="0" indent="0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107" name="Google Shape;107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 August 2026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/>
        </p:nvSpPr>
        <p:spPr>
          <a:xfrm>
            <a:off x="1478927" y="102393"/>
            <a:ext cx="6183630" cy="522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lang="en" sz="3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sz="1100"/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114" name="Google Shape;114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 August 2026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760750" y="1257875"/>
            <a:ext cx="949200" cy="15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20899"/>
            <a:ext cx="9108924" cy="31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>
            <a:spLocks noGrp="1"/>
          </p:cNvSpPr>
          <p:nvPr>
            <p:ph type="title"/>
          </p:nvPr>
        </p:nvSpPr>
        <p:spPr>
          <a:xfrm>
            <a:off x="628650" y="179615"/>
            <a:ext cx="7886700" cy="460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Literature Review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123" name="Google Shape;123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 August 2026</a:t>
            </a:r>
            <a:endParaRPr/>
          </a:p>
        </p:txBody>
      </p:sp>
      <p:sp>
        <p:nvSpPr>
          <p:cNvPr id="124" name="Google Shape;124;p17"/>
          <p:cNvSpPr txBox="1"/>
          <p:nvPr/>
        </p:nvSpPr>
        <p:spPr>
          <a:xfrm>
            <a:off x="90375" y="836075"/>
            <a:ext cx="4338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26451"/>
            <a:ext cx="8839202" cy="286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 descr="https://ietresearch.onlinelibrary.wiley.com/cms/asset/2940a7b6-e3db-4571-ac31-fa8b0ce109de/ise28821891-fig-0004-m.jpg"/>
          <p:cNvSpPr/>
          <p:nvPr/>
        </p:nvSpPr>
        <p:spPr>
          <a:xfrm>
            <a:off x="116681" y="-108347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929472" y="238125"/>
            <a:ext cx="72825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 i="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 Flow of Proposed Model</a:t>
            </a:r>
            <a:endParaRPr sz="2600" b="1" i="0">
              <a:solidFill>
                <a:srgbClr val="1E293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18" descr="https://ietresearch.onlinelibrary.wiley.com/cms/asset/2940a7b6-e3db-4571-ac31-fa8b0ce109de/ise28821891-fig-0004-m.jpg"/>
          <p:cNvSpPr/>
          <p:nvPr/>
        </p:nvSpPr>
        <p:spPr>
          <a:xfrm>
            <a:off x="230981" y="5953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3" name="Google Shape;133;p18"/>
          <p:cNvGrpSpPr/>
          <p:nvPr/>
        </p:nvGrpSpPr>
        <p:grpSpPr>
          <a:xfrm>
            <a:off x="1400175" y="1328738"/>
            <a:ext cx="6324750" cy="2533800"/>
            <a:chOff x="1400175" y="1328738"/>
            <a:chExt cx="6324750" cy="2533800"/>
          </a:xfrm>
        </p:grpSpPr>
        <p:sp>
          <p:nvSpPr>
            <p:cNvPr id="134" name="Google Shape;134;p18"/>
            <p:cNvSpPr/>
            <p:nvPr/>
          </p:nvSpPr>
          <p:spPr>
            <a:xfrm>
              <a:off x="2286000" y="1357313"/>
              <a:ext cx="28590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8"/>
            <p:cNvSpPr/>
            <p:nvPr/>
          </p:nvSpPr>
          <p:spPr>
            <a:xfrm>
              <a:off x="2571750" y="1328738"/>
              <a:ext cx="573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4472C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8"/>
            <p:cNvSpPr/>
            <p:nvPr/>
          </p:nvSpPr>
          <p:spPr>
            <a:xfrm>
              <a:off x="4381500" y="1357313"/>
              <a:ext cx="28590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8"/>
            <p:cNvSpPr/>
            <p:nvPr/>
          </p:nvSpPr>
          <p:spPr>
            <a:xfrm>
              <a:off x="4667250" y="1328738"/>
              <a:ext cx="573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4472C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8"/>
            <p:cNvSpPr/>
            <p:nvPr/>
          </p:nvSpPr>
          <p:spPr>
            <a:xfrm>
              <a:off x="6477000" y="1357313"/>
              <a:ext cx="28590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8"/>
            <p:cNvSpPr/>
            <p:nvPr/>
          </p:nvSpPr>
          <p:spPr>
            <a:xfrm>
              <a:off x="6762750" y="1328738"/>
              <a:ext cx="573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4472C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0" name="Google Shape;140;p1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419225" y="1762125"/>
              <a:ext cx="63057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18"/>
            <p:cNvSpPr/>
            <p:nvPr/>
          </p:nvSpPr>
          <p:spPr>
            <a:xfrm>
              <a:off x="1400175" y="2143125"/>
              <a:ext cx="573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8"/>
            <p:cNvSpPr/>
            <p:nvPr/>
          </p:nvSpPr>
          <p:spPr>
            <a:xfrm>
              <a:off x="2286000" y="2595563"/>
              <a:ext cx="28590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8"/>
            <p:cNvSpPr/>
            <p:nvPr/>
          </p:nvSpPr>
          <p:spPr>
            <a:xfrm>
              <a:off x="2571750" y="2566988"/>
              <a:ext cx="573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4472C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8"/>
            <p:cNvSpPr/>
            <p:nvPr/>
          </p:nvSpPr>
          <p:spPr>
            <a:xfrm>
              <a:off x="4381500" y="2595563"/>
              <a:ext cx="28590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8"/>
            <p:cNvSpPr/>
            <p:nvPr/>
          </p:nvSpPr>
          <p:spPr>
            <a:xfrm>
              <a:off x="4667250" y="2566988"/>
              <a:ext cx="573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4472C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8"/>
            <p:cNvSpPr/>
            <p:nvPr/>
          </p:nvSpPr>
          <p:spPr>
            <a:xfrm>
              <a:off x="6477000" y="2595563"/>
              <a:ext cx="28590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8"/>
            <p:cNvSpPr/>
            <p:nvPr/>
          </p:nvSpPr>
          <p:spPr>
            <a:xfrm>
              <a:off x="6762750" y="2566988"/>
              <a:ext cx="573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4472C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8" name="Google Shape;148;p1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419225" y="3000375"/>
              <a:ext cx="63057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" name="Google Shape;149;p18"/>
            <p:cNvSpPr/>
            <p:nvPr/>
          </p:nvSpPr>
          <p:spPr>
            <a:xfrm>
              <a:off x="1400175" y="3381375"/>
              <a:ext cx="573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8"/>
            <p:cNvSpPr/>
            <p:nvPr/>
          </p:nvSpPr>
          <p:spPr>
            <a:xfrm>
              <a:off x="2286000" y="3833813"/>
              <a:ext cx="28590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8"/>
            <p:cNvSpPr/>
            <p:nvPr/>
          </p:nvSpPr>
          <p:spPr>
            <a:xfrm>
              <a:off x="2571750" y="3805238"/>
              <a:ext cx="573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4472C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8"/>
            <p:cNvSpPr/>
            <p:nvPr/>
          </p:nvSpPr>
          <p:spPr>
            <a:xfrm>
              <a:off x="4381500" y="3833813"/>
              <a:ext cx="28590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8"/>
            <p:cNvSpPr/>
            <p:nvPr/>
          </p:nvSpPr>
          <p:spPr>
            <a:xfrm>
              <a:off x="4667250" y="3805238"/>
              <a:ext cx="573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4472C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4" name="Google Shape;154;p18" descr="https://ietresearch.onlinelibrary.wiley.com/cms/asset/2940a7b6-e3db-4571-ac31-fa8b0ce109de/ise28821891-fig-0004-m.jpg"/>
          <p:cNvSpPr/>
          <p:nvPr/>
        </p:nvSpPr>
        <p:spPr>
          <a:xfrm>
            <a:off x="345281" y="120253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5" name="Google Shape;155;p18"/>
          <p:cNvGrpSpPr/>
          <p:nvPr/>
        </p:nvGrpSpPr>
        <p:grpSpPr>
          <a:xfrm>
            <a:off x="571500" y="952500"/>
            <a:ext cx="8001000" cy="3286200"/>
            <a:chOff x="571500" y="952500"/>
            <a:chExt cx="8001000" cy="3286200"/>
          </a:xfrm>
        </p:grpSpPr>
        <p:grpSp>
          <p:nvGrpSpPr>
            <p:cNvPr id="156" name="Google Shape;156;p18"/>
            <p:cNvGrpSpPr/>
            <p:nvPr/>
          </p:nvGrpSpPr>
          <p:grpSpPr>
            <a:xfrm>
              <a:off x="571500" y="952500"/>
              <a:ext cx="1714500" cy="809700"/>
              <a:chOff x="0" y="0"/>
              <a:chExt cx="1714500" cy="809700"/>
            </a:xfrm>
          </p:grpSpPr>
          <p:sp>
            <p:nvSpPr>
              <p:cNvPr id="157" name="Google Shape;157;p18"/>
              <p:cNvSpPr/>
              <p:nvPr/>
            </p:nvSpPr>
            <p:spPr>
              <a:xfrm>
                <a:off x="0" y="0"/>
                <a:ext cx="1714500" cy="809700"/>
              </a:xfrm>
              <a:prstGeom prst="roundRect">
                <a:avLst>
                  <a:gd name="adj" fmla="val 9411"/>
                </a:avLst>
              </a:prstGeom>
              <a:solidFill>
                <a:srgbClr val="FFFFFF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8"/>
              <p:cNvSpPr/>
              <p:nvPr/>
            </p:nvSpPr>
            <p:spPr>
              <a:xfrm>
                <a:off x="0" y="0"/>
                <a:ext cx="57300" cy="809700"/>
              </a:xfrm>
              <a:prstGeom prst="roundRect">
                <a:avLst>
                  <a:gd name="adj" fmla="val 50000"/>
                </a:avLst>
              </a:prstGeom>
              <a:solidFill>
                <a:srgbClr val="4472C4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18"/>
              <p:cNvSpPr txBox="1"/>
              <p:nvPr/>
            </p:nvSpPr>
            <p:spPr>
              <a:xfrm>
                <a:off x="142875" y="47625"/>
                <a:ext cx="14763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b="1">
                    <a:solidFill>
                      <a:srgbClr val="4472C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STEP 01</a:t>
                </a:r>
                <a:endParaRPr sz="900" b="1">
                  <a:solidFill>
                    <a:srgbClr val="4472C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lvl="0" indent="0" algn="l" rtl="0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Requirement Analysis</a:t>
                </a:r>
                <a:endParaRPr sz="1100" b="1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60" name="Google Shape;160;p18"/>
            <p:cNvGrpSpPr/>
            <p:nvPr/>
          </p:nvGrpSpPr>
          <p:grpSpPr>
            <a:xfrm>
              <a:off x="2667000" y="952500"/>
              <a:ext cx="1714500" cy="809700"/>
              <a:chOff x="0" y="0"/>
              <a:chExt cx="1714500" cy="809700"/>
            </a:xfrm>
          </p:grpSpPr>
          <p:sp>
            <p:nvSpPr>
              <p:cNvPr id="161" name="Google Shape;161;p18"/>
              <p:cNvSpPr/>
              <p:nvPr/>
            </p:nvSpPr>
            <p:spPr>
              <a:xfrm>
                <a:off x="0" y="0"/>
                <a:ext cx="1714500" cy="809700"/>
              </a:xfrm>
              <a:prstGeom prst="roundRect">
                <a:avLst>
                  <a:gd name="adj" fmla="val 9411"/>
                </a:avLst>
              </a:prstGeom>
              <a:solidFill>
                <a:srgbClr val="FFFFFF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8"/>
              <p:cNvSpPr/>
              <p:nvPr/>
            </p:nvSpPr>
            <p:spPr>
              <a:xfrm>
                <a:off x="0" y="0"/>
                <a:ext cx="57300" cy="809700"/>
              </a:xfrm>
              <a:prstGeom prst="roundRect">
                <a:avLst>
                  <a:gd name="adj" fmla="val 50000"/>
                </a:avLst>
              </a:prstGeom>
              <a:solidFill>
                <a:srgbClr val="4472C4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18"/>
              <p:cNvSpPr txBox="1"/>
              <p:nvPr/>
            </p:nvSpPr>
            <p:spPr>
              <a:xfrm>
                <a:off x="142875" y="47625"/>
                <a:ext cx="14763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b="1">
                    <a:solidFill>
                      <a:srgbClr val="4472C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STEP 02</a:t>
                </a:r>
                <a:endParaRPr sz="900" b="1">
                  <a:solidFill>
                    <a:srgbClr val="4472C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lvl="0" indent="0" algn="l" rtl="0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Identification of Banking Entities</a:t>
                </a:r>
                <a:endParaRPr sz="1100" b="1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64" name="Google Shape;164;p18"/>
            <p:cNvGrpSpPr/>
            <p:nvPr/>
          </p:nvGrpSpPr>
          <p:grpSpPr>
            <a:xfrm>
              <a:off x="4762500" y="952500"/>
              <a:ext cx="1714500" cy="809700"/>
              <a:chOff x="0" y="0"/>
              <a:chExt cx="1714500" cy="809700"/>
            </a:xfrm>
          </p:grpSpPr>
          <p:sp>
            <p:nvSpPr>
              <p:cNvPr id="165" name="Google Shape;165;p18"/>
              <p:cNvSpPr/>
              <p:nvPr/>
            </p:nvSpPr>
            <p:spPr>
              <a:xfrm>
                <a:off x="0" y="0"/>
                <a:ext cx="1714500" cy="809700"/>
              </a:xfrm>
              <a:prstGeom prst="roundRect">
                <a:avLst>
                  <a:gd name="adj" fmla="val 9411"/>
                </a:avLst>
              </a:prstGeom>
              <a:solidFill>
                <a:srgbClr val="FFFFFF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8"/>
              <p:cNvSpPr/>
              <p:nvPr/>
            </p:nvSpPr>
            <p:spPr>
              <a:xfrm>
                <a:off x="0" y="0"/>
                <a:ext cx="57300" cy="809700"/>
              </a:xfrm>
              <a:prstGeom prst="roundRect">
                <a:avLst>
                  <a:gd name="adj" fmla="val 50000"/>
                </a:avLst>
              </a:prstGeom>
              <a:solidFill>
                <a:srgbClr val="4472C4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8"/>
              <p:cNvSpPr txBox="1"/>
              <p:nvPr/>
            </p:nvSpPr>
            <p:spPr>
              <a:xfrm>
                <a:off x="142875" y="47625"/>
                <a:ext cx="14763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b="1">
                    <a:solidFill>
                      <a:srgbClr val="4472C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STEP 03</a:t>
                </a:r>
                <a:endParaRPr sz="900" b="1">
                  <a:solidFill>
                    <a:srgbClr val="4472C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lvl="0" indent="0" algn="l" rtl="0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ER Modeling</a:t>
                </a:r>
                <a:endParaRPr sz="1100" b="1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68" name="Google Shape;168;p18"/>
            <p:cNvGrpSpPr/>
            <p:nvPr/>
          </p:nvGrpSpPr>
          <p:grpSpPr>
            <a:xfrm>
              <a:off x="6858000" y="952500"/>
              <a:ext cx="1714500" cy="809700"/>
              <a:chOff x="0" y="0"/>
              <a:chExt cx="1714500" cy="809700"/>
            </a:xfrm>
          </p:grpSpPr>
          <p:sp>
            <p:nvSpPr>
              <p:cNvPr id="169" name="Google Shape;169;p18"/>
              <p:cNvSpPr/>
              <p:nvPr/>
            </p:nvSpPr>
            <p:spPr>
              <a:xfrm>
                <a:off x="0" y="0"/>
                <a:ext cx="1714500" cy="809700"/>
              </a:xfrm>
              <a:prstGeom prst="roundRect">
                <a:avLst>
                  <a:gd name="adj" fmla="val 9411"/>
                </a:avLst>
              </a:prstGeom>
              <a:solidFill>
                <a:srgbClr val="FFFFFF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18"/>
              <p:cNvSpPr/>
              <p:nvPr/>
            </p:nvSpPr>
            <p:spPr>
              <a:xfrm>
                <a:off x="0" y="0"/>
                <a:ext cx="57300" cy="809700"/>
              </a:xfrm>
              <a:prstGeom prst="roundRect">
                <a:avLst>
                  <a:gd name="adj" fmla="val 50000"/>
                </a:avLst>
              </a:prstGeom>
              <a:solidFill>
                <a:srgbClr val="4472C4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8"/>
              <p:cNvSpPr txBox="1"/>
              <p:nvPr/>
            </p:nvSpPr>
            <p:spPr>
              <a:xfrm>
                <a:off x="142875" y="47625"/>
                <a:ext cx="14763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b="1">
                    <a:solidFill>
                      <a:srgbClr val="4472C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STEP 04</a:t>
                </a:r>
                <a:endParaRPr sz="900" b="1">
                  <a:solidFill>
                    <a:srgbClr val="4472C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lvl="0" indent="0" algn="l" rtl="0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Relational Schema Design</a:t>
                </a:r>
                <a:endParaRPr sz="1100" b="1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72" name="Google Shape;172;p18"/>
            <p:cNvGrpSpPr/>
            <p:nvPr/>
          </p:nvGrpSpPr>
          <p:grpSpPr>
            <a:xfrm>
              <a:off x="571500" y="2190750"/>
              <a:ext cx="1714500" cy="809700"/>
              <a:chOff x="0" y="0"/>
              <a:chExt cx="1714500" cy="809700"/>
            </a:xfrm>
          </p:grpSpPr>
          <p:sp>
            <p:nvSpPr>
              <p:cNvPr id="173" name="Google Shape;173;p18"/>
              <p:cNvSpPr/>
              <p:nvPr/>
            </p:nvSpPr>
            <p:spPr>
              <a:xfrm>
                <a:off x="0" y="0"/>
                <a:ext cx="1714500" cy="809700"/>
              </a:xfrm>
              <a:prstGeom prst="roundRect">
                <a:avLst>
                  <a:gd name="adj" fmla="val 9411"/>
                </a:avLst>
              </a:prstGeom>
              <a:solidFill>
                <a:srgbClr val="FFFFFF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18"/>
              <p:cNvSpPr/>
              <p:nvPr/>
            </p:nvSpPr>
            <p:spPr>
              <a:xfrm>
                <a:off x="0" y="0"/>
                <a:ext cx="57300" cy="809700"/>
              </a:xfrm>
              <a:prstGeom prst="roundRect">
                <a:avLst>
                  <a:gd name="adj" fmla="val 50000"/>
                </a:avLst>
              </a:prstGeom>
              <a:solidFill>
                <a:srgbClr val="4472C4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18"/>
              <p:cNvSpPr txBox="1"/>
              <p:nvPr/>
            </p:nvSpPr>
            <p:spPr>
              <a:xfrm>
                <a:off x="142875" y="47625"/>
                <a:ext cx="14763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b="1">
                    <a:solidFill>
                      <a:srgbClr val="4472C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STEP 05</a:t>
                </a:r>
                <a:endParaRPr sz="900" b="1">
                  <a:solidFill>
                    <a:srgbClr val="4472C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lvl="0" indent="0" algn="l" rtl="0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Normalization &amp; Constraints</a:t>
                </a:r>
                <a:endParaRPr sz="1100" b="1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76" name="Google Shape;176;p18"/>
            <p:cNvGrpSpPr/>
            <p:nvPr/>
          </p:nvGrpSpPr>
          <p:grpSpPr>
            <a:xfrm>
              <a:off x="2667000" y="2190750"/>
              <a:ext cx="1714500" cy="809700"/>
              <a:chOff x="0" y="0"/>
              <a:chExt cx="1714500" cy="809700"/>
            </a:xfrm>
          </p:grpSpPr>
          <p:sp>
            <p:nvSpPr>
              <p:cNvPr id="177" name="Google Shape;177;p18"/>
              <p:cNvSpPr/>
              <p:nvPr/>
            </p:nvSpPr>
            <p:spPr>
              <a:xfrm>
                <a:off x="0" y="0"/>
                <a:ext cx="1714500" cy="809700"/>
              </a:xfrm>
              <a:prstGeom prst="roundRect">
                <a:avLst>
                  <a:gd name="adj" fmla="val 9411"/>
                </a:avLst>
              </a:prstGeom>
              <a:solidFill>
                <a:srgbClr val="FFFFFF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18"/>
              <p:cNvSpPr/>
              <p:nvPr/>
            </p:nvSpPr>
            <p:spPr>
              <a:xfrm>
                <a:off x="0" y="0"/>
                <a:ext cx="57300" cy="809700"/>
              </a:xfrm>
              <a:prstGeom prst="roundRect">
                <a:avLst>
                  <a:gd name="adj" fmla="val 50000"/>
                </a:avLst>
              </a:prstGeom>
              <a:solidFill>
                <a:srgbClr val="4472C4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18"/>
              <p:cNvSpPr txBox="1"/>
              <p:nvPr/>
            </p:nvSpPr>
            <p:spPr>
              <a:xfrm>
                <a:off x="142875" y="47625"/>
                <a:ext cx="14763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b="1">
                    <a:solidFill>
                      <a:srgbClr val="4472C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STEP 06</a:t>
                </a:r>
                <a:endParaRPr sz="900" b="1">
                  <a:solidFill>
                    <a:srgbClr val="4472C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1050" b="1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Transaction Mgmt</a:t>
                </a:r>
                <a:endParaRPr sz="1050" b="1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50">
                    <a:solidFill>
                      <a:srgbClr val="64748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ACID / Commit / Savepoint</a:t>
                </a:r>
                <a:endParaRPr sz="850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80" name="Google Shape;180;p18"/>
            <p:cNvGrpSpPr/>
            <p:nvPr/>
          </p:nvGrpSpPr>
          <p:grpSpPr>
            <a:xfrm>
              <a:off x="4762500" y="2190750"/>
              <a:ext cx="1714500" cy="809700"/>
              <a:chOff x="0" y="0"/>
              <a:chExt cx="1714500" cy="809700"/>
            </a:xfrm>
          </p:grpSpPr>
          <p:sp>
            <p:nvSpPr>
              <p:cNvPr id="181" name="Google Shape;181;p18"/>
              <p:cNvSpPr/>
              <p:nvPr/>
            </p:nvSpPr>
            <p:spPr>
              <a:xfrm>
                <a:off x="0" y="0"/>
                <a:ext cx="1714500" cy="809700"/>
              </a:xfrm>
              <a:prstGeom prst="roundRect">
                <a:avLst>
                  <a:gd name="adj" fmla="val 9411"/>
                </a:avLst>
              </a:prstGeom>
              <a:solidFill>
                <a:srgbClr val="FFFFFF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8"/>
              <p:cNvSpPr/>
              <p:nvPr/>
            </p:nvSpPr>
            <p:spPr>
              <a:xfrm>
                <a:off x="0" y="0"/>
                <a:ext cx="57300" cy="809700"/>
              </a:xfrm>
              <a:prstGeom prst="roundRect">
                <a:avLst>
                  <a:gd name="adj" fmla="val 50000"/>
                </a:avLst>
              </a:prstGeom>
              <a:solidFill>
                <a:srgbClr val="4472C4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8"/>
              <p:cNvSpPr txBox="1"/>
              <p:nvPr/>
            </p:nvSpPr>
            <p:spPr>
              <a:xfrm>
                <a:off x="142875" y="47625"/>
                <a:ext cx="14763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b="1">
                    <a:solidFill>
                      <a:srgbClr val="4472C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STEP 07</a:t>
                </a:r>
                <a:endParaRPr sz="900" b="1">
                  <a:solidFill>
                    <a:srgbClr val="4472C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lvl="0" indent="0" algn="l" rtl="0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Concurrency Control &amp; Recovery</a:t>
                </a:r>
                <a:endParaRPr sz="1100" b="1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84" name="Google Shape;184;p18"/>
            <p:cNvGrpSpPr/>
            <p:nvPr/>
          </p:nvGrpSpPr>
          <p:grpSpPr>
            <a:xfrm>
              <a:off x="6858000" y="2190750"/>
              <a:ext cx="1714500" cy="809700"/>
              <a:chOff x="0" y="0"/>
              <a:chExt cx="1714500" cy="809700"/>
            </a:xfrm>
          </p:grpSpPr>
          <p:sp>
            <p:nvSpPr>
              <p:cNvPr id="185" name="Google Shape;185;p18"/>
              <p:cNvSpPr/>
              <p:nvPr/>
            </p:nvSpPr>
            <p:spPr>
              <a:xfrm>
                <a:off x="0" y="0"/>
                <a:ext cx="1714500" cy="809700"/>
              </a:xfrm>
              <a:prstGeom prst="roundRect">
                <a:avLst>
                  <a:gd name="adj" fmla="val 9411"/>
                </a:avLst>
              </a:prstGeom>
              <a:solidFill>
                <a:srgbClr val="FFFFFF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8"/>
              <p:cNvSpPr/>
              <p:nvPr/>
            </p:nvSpPr>
            <p:spPr>
              <a:xfrm>
                <a:off x="0" y="0"/>
                <a:ext cx="57300" cy="809700"/>
              </a:xfrm>
              <a:prstGeom prst="roundRect">
                <a:avLst>
                  <a:gd name="adj" fmla="val 50000"/>
                </a:avLst>
              </a:prstGeom>
              <a:solidFill>
                <a:srgbClr val="4472C4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8"/>
              <p:cNvSpPr txBox="1"/>
              <p:nvPr/>
            </p:nvSpPr>
            <p:spPr>
              <a:xfrm>
                <a:off x="142875" y="47625"/>
                <a:ext cx="14763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b="1">
                    <a:solidFill>
                      <a:srgbClr val="4472C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STEP 08</a:t>
                </a:r>
                <a:endParaRPr sz="900" b="1">
                  <a:solidFill>
                    <a:srgbClr val="4472C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lvl="0" indent="0" algn="l" rtl="0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Security &amp; Authentication</a:t>
                </a:r>
                <a:endParaRPr sz="1100" b="1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88" name="Google Shape;188;p18"/>
            <p:cNvGrpSpPr/>
            <p:nvPr/>
          </p:nvGrpSpPr>
          <p:grpSpPr>
            <a:xfrm>
              <a:off x="571500" y="3429000"/>
              <a:ext cx="1714500" cy="809700"/>
              <a:chOff x="0" y="0"/>
              <a:chExt cx="1714500" cy="809700"/>
            </a:xfrm>
          </p:grpSpPr>
          <p:sp>
            <p:nvSpPr>
              <p:cNvPr id="189" name="Google Shape;189;p18"/>
              <p:cNvSpPr/>
              <p:nvPr/>
            </p:nvSpPr>
            <p:spPr>
              <a:xfrm>
                <a:off x="0" y="0"/>
                <a:ext cx="1714500" cy="809700"/>
              </a:xfrm>
              <a:prstGeom prst="roundRect">
                <a:avLst>
                  <a:gd name="adj" fmla="val 9411"/>
                </a:avLst>
              </a:prstGeom>
              <a:solidFill>
                <a:srgbClr val="FFFFFF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18"/>
              <p:cNvSpPr/>
              <p:nvPr/>
            </p:nvSpPr>
            <p:spPr>
              <a:xfrm>
                <a:off x="0" y="0"/>
                <a:ext cx="57300" cy="809700"/>
              </a:xfrm>
              <a:prstGeom prst="roundRect">
                <a:avLst>
                  <a:gd name="adj" fmla="val 50000"/>
                </a:avLst>
              </a:prstGeom>
              <a:solidFill>
                <a:srgbClr val="4472C4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8"/>
              <p:cNvSpPr txBox="1"/>
              <p:nvPr/>
            </p:nvSpPr>
            <p:spPr>
              <a:xfrm>
                <a:off x="142875" y="47625"/>
                <a:ext cx="14763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b="1">
                    <a:solidFill>
                      <a:srgbClr val="4472C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STEP 09</a:t>
                </a:r>
                <a:endParaRPr sz="900" b="1">
                  <a:solidFill>
                    <a:srgbClr val="4472C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1050" b="1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Data Integration</a:t>
                </a:r>
                <a:endParaRPr sz="1050" b="1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50">
                    <a:solidFill>
                      <a:srgbClr val="64748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Photo / E-Sign / KYC</a:t>
                </a:r>
                <a:endParaRPr sz="850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92" name="Google Shape;192;p18"/>
            <p:cNvGrpSpPr/>
            <p:nvPr/>
          </p:nvGrpSpPr>
          <p:grpSpPr>
            <a:xfrm>
              <a:off x="2667000" y="3429000"/>
              <a:ext cx="1714500" cy="809700"/>
              <a:chOff x="0" y="0"/>
              <a:chExt cx="1714500" cy="809700"/>
            </a:xfrm>
          </p:grpSpPr>
          <p:sp>
            <p:nvSpPr>
              <p:cNvPr id="193" name="Google Shape;193;p18"/>
              <p:cNvSpPr/>
              <p:nvPr/>
            </p:nvSpPr>
            <p:spPr>
              <a:xfrm>
                <a:off x="0" y="0"/>
                <a:ext cx="1714500" cy="809700"/>
              </a:xfrm>
              <a:prstGeom prst="roundRect">
                <a:avLst>
                  <a:gd name="adj" fmla="val 9411"/>
                </a:avLst>
              </a:prstGeom>
              <a:solidFill>
                <a:srgbClr val="FFFFFF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18"/>
              <p:cNvSpPr/>
              <p:nvPr/>
            </p:nvSpPr>
            <p:spPr>
              <a:xfrm>
                <a:off x="0" y="0"/>
                <a:ext cx="57300" cy="809700"/>
              </a:xfrm>
              <a:prstGeom prst="roundRect">
                <a:avLst>
                  <a:gd name="adj" fmla="val 50000"/>
                </a:avLst>
              </a:prstGeom>
              <a:solidFill>
                <a:srgbClr val="4472C4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18"/>
              <p:cNvSpPr txBox="1"/>
              <p:nvPr/>
            </p:nvSpPr>
            <p:spPr>
              <a:xfrm>
                <a:off x="142875" y="47625"/>
                <a:ext cx="14763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b="1">
                    <a:solidFill>
                      <a:srgbClr val="4472C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STEP 10</a:t>
                </a:r>
                <a:endParaRPr sz="900" b="1">
                  <a:solidFill>
                    <a:srgbClr val="4472C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lvl="0" indent="0" algn="l" rtl="0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Backend-Database Integration</a:t>
                </a:r>
                <a:endParaRPr sz="1100" b="1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96" name="Google Shape;196;p18"/>
            <p:cNvGrpSpPr/>
            <p:nvPr/>
          </p:nvGrpSpPr>
          <p:grpSpPr>
            <a:xfrm>
              <a:off x="4762500" y="3429000"/>
              <a:ext cx="1714500" cy="809700"/>
              <a:chOff x="0" y="0"/>
              <a:chExt cx="1714500" cy="809700"/>
            </a:xfrm>
          </p:grpSpPr>
          <p:sp>
            <p:nvSpPr>
              <p:cNvPr id="197" name="Google Shape;197;p18"/>
              <p:cNvSpPr/>
              <p:nvPr/>
            </p:nvSpPr>
            <p:spPr>
              <a:xfrm>
                <a:off x="0" y="0"/>
                <a:ext cx="1714500" cy="809700"/>
              </a:xfrm>
              <a:prstGeom prst="roundRect">
                <a:avLst>
                  <a:gd name="adj" fmla="val 9411"/>
                </a:avLst>
              </a:prstGeom>
              <a:solidFill>
                <a:srgbClr val="FFFFFF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18"/>
              <p:cNvSpPr/>
              <p:nvPr/>
            </p:nvSpPr>
            <p:spPr>
              <a:xfrm>
                <a:off x="0" y="0"/>
                <a:ext cx="57300" cy="809700"/>
              </a:xfrm>
              <a:prstGeom prst="roundRect">
                <a:avLst>
                  <a:gd name="adj" fmla="val 50000"/>
                </a:avLst>
              </a:prstGeom>
              <a:solidFill>
                <a:srgbClr val="4472C4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18"/>
              <p:cNvSpPr txBox="1"/>
              <p:nvPr/>
            </p:nvSpPr>
            <p:spPr>
              <a:xfrm>
                <a:off x="142875" y="47625"/>
                <a:ext cx="14763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b="1">
                    <a:solidFill>
                      <a:srgbClr val="4472C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STEP 11</a:t>
                </a:r>
                <a:endParaRPr sz="900" b="1">
                  <a:solidFill>
                    <a:srgbClr val="4472C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lvl="0" indent="0" algn="l" rtl="0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1E293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Testing &amp; Validation</a:t>
                </a:r>
                <a:endParaRPr sz="1100" b="1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200" name="Google Shape;200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201" name="Google Shape;201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 August 2026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9"/>
          <p:cNvSpPr txBox="1">
            <a:spLocks noGrp="1"/>
          </p:cNvSpPr>
          <p:nvPr>
            <p:ph type="title"/>
          </p:nvPr>
        </p:nvSpPr>
        <p:spPr>
          <a:xfrm>
            <a:off x="689162" y="35280"/>
            <a:ext cx="7886700" cy="4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" sz="3000" b="1">
                <a:latin typeface="Times New Roman"/>
                <a:ea typeface="Times New Roman"/>
                <a:cs typeface="Times New Roman"/>
                <a:sym typeface="Times New Roman"/>
              </a:rPr>
              <a:t>Proposed work -Explanation 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381000" y="714375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SecureBank</a:t>
            </a:r>
            <a:r>
              <a:rPr lang="en" sz="1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full-stack banking database application built using </a:t>
            </a:r>
            <a:r>
              <a:rPr lang="en" sz="1200" b="1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Node.js, Express, and MySQL</a:t>
            </a:r>
            <a:r>
              <a:rPr lang="en" sz="1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200">
              <a:solidFill>
                <a:srgbClr val="1E293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grpSp>
        <p:nvGrpSpPr>
          <p:cNvPr id="209" name="Google Shape;209;p19"/>
          <p:cNvGrpSpPr/>
          <p:nvPr/>
        </p:nvGrpSpPr>
        <p:grpSpPr>
          <a:xfrm>
            <a:off x="381000" y="1190625"/>
            <a:ext cx="1952700" cy="3333900"/>
            <a:chOff x="0" y="0"/>
            <a:chExt cx="1952700" cy="3333900"/>
          </a:xfrm>
        </p:grpSpPr>
        <p:sp>
          <p:nvSpPr>
            <p:cNvPr id="210" name="Google Shape;210;p19"/>
            <p:cNvSpPr/>
            <p:nvPr/>
          </p:nvSpPr>
          <p:spPr>
            <a:xfrm>
              <a:off x="0" y="0"/>
              <a:ext cx="1952700" cy="3333900"/>
            </a:xfrm>
            <a:prstGeom prst="roundRect">
              <a:avLst>
                <a:gd name="adj" fmla="val 3902"/>
              </a:avLst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9"/>
            <p:cNvSpPr/>
            <p:nvPr/>
          </p:nvSpPr>
          <p:spPr>
            <a:xfrm>
              <a:off x="0" y="0"/>
              <a:ext cx="57300" cy="3333900"/>
            </a:xfrm>
            <a:prstGeom prst="roundRect">
              <a:avLst>
                <a:gd name="adj" fmla="val 50000"/>
              </a:avLst>
            </a:prstGeom>
            <a:solidFill>
              <a:srgbClr val="4472C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9"/>
            <p:cNvSpPr txBox="1"/>
            <p:nvPr/>
          </p:nvSpPr>
          <p:spPr>
            <a:xfrm>
              <a:off x="152400" y="142875"/>
              <a:ext cx="16668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Core Database</a:t>
              </a:r>
              <a:endParaRPr sz="1200" b="1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447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Customer</a:t>
              </a:r>
              <a:br>
                <a:rPr lang="en" sz="95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r>
                <a:rPr lang="en" sz="95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Personal &amp; KYC info</a:t>
              </a:r>
              <a:endParaRPr sz="95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447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Bank/Branch</a:t>
              </a:r>
              <a:br>
                <a:rPr lang="en" sz="95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r>
                <a:rPr lang="en" sz="95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Organizational structure</a:t>
              </a:r>
              <a:endParaRPr sz="95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447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Account</a:t>
              </a:r>
              <a:br>
                <a:rPr lang="en" sz="95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r>
                <a:rPr lang="en" sz="95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Balances &amp; details</a:t>
              </a:r>
              <a:endParaRPr sz="95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447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Transaction</a:t>
              </a:r>
              <a:br>
                <a:rPr lang="en" sz="95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r>
                <a:rPr lang="en" sz="95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Deposits &amp; transfers</a:t>
              </a:r>
              <a:endParaRPr sz="95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447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Loan</a:t>
              </a:r>
              <a:br>
                <a:rPr lang="en" sz="95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r>
                <a:rPr lang="en" sz="95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Details &amp; repayments</a:t>
              </a:r>
              <a:endParaRPr sz="95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4472C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Card/Beneficiary</a:t>
              </a:r>
              <a:br>
                <a:rPr lang="en" sz="95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r>
                <a:rPr lang="en" sz="95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Associated services</a:t>
              </a:r>
              <a:endParaRPr sz="95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13" name="Google Shape;213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 August 2026</a:t>
            </a:r>
            <a:endParaRPr/>
          </a:p>
        </p:txBody>
      </p:sp>
      <p:grpSp>
        <p:nvGrpSpPr>
          <p:cNvPr id="214" name="Google Shape;214;p19"/>
          <p:cNvGrpSpPr/>
          <p:nvPr/>
        </p:nvGrpSpPr>
        <p:grpSpPr>
          <a:xfrm>
            <a:off x="2524125" y="1190625"/>
            <a:ext cx="1952700" cy="3333900"/>
            <a:chOff x="0" y="0"/>
            <a:chExt cx="1952700" cy="3333900"/>
          </a:xfrm>
        </p:grpSpPr>
        <p:sp>
          <p:nvSpPr>
            <p:cNvPr id="215" name="Google Shape;215;p19"/>
            <p:cNvSpPr/>
            <p:nvPr/>
          </p:nvSpPr>
          <p:spPr>
            <a:xfrm>
              <a:off x="0" y="0"/>
              <a:ext cx="1952700" cy="3333900"/>
            </a:xfrm>
            <a:prstGeom prst="roundRect">
              <a:avLst>
                <a:gd name="adj" fmla="val 3902"/>
              </a:avLst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9"/>
            <p:cNvSpPr/>
            <p:nvPr/>
          </p:nvSpPr>
          <p:spPr>
            <a:xfrm>
              <a:off x="0" y="0"/>
              <a:ext cx="57300" cy="3333900"/>
            </a:xfrm>
            <a:prstGeom prst="roundRect">
              <a:avLst>
                <a:gd name="adj" fmla="val 50000"/>
              </a:avLst>
            </a:prstGeom>
            <a:solidFill>
              <a:srgbClr val="4472C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9"/>
            <p:cNvSpPr txBox="1"/>
            <p:nvPr/>
          </p:nvSpPr>
          <p:spPr>
            <a:xfrm>
              <a:off x="152400" y="142875"/>
              <a:ext cx="16668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Database Layer</a:t>
              </a:r>
              <a:endParaRPr sz="1200" b="1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457200" lvl="0" indent="-288925" algn="l" rtl="0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950"/>
                <a:buFont typeface="Times New Roman"/>
                <a:buChar char="●"/>
              </a:pPr>
              <a:r>
                <a:rPr lang="en" sz="95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ER-based relational schema design</a:t>
              </a:r>
              <a:endParaRPr sz="95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457200" lvl="0" indent="-288925" algn="l" rtl="0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950"/>
                <a:buFont typeface="Times New Roman"/>
                <a:buChar char="●"/>
              </a:pPr>
              <a:r>
                <a:rPr lang="en" sz="95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Normalization to reduce redundancy</a:t>
              </a:r>
              <a:endParaRPr sz="95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457200" lvl="0" indent="-288925" algn="l" rtl="0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950"/>
                <a:buFont typeface="Times New Roman"/>
                <a:buChar char="●"/>
              </a:pPr>
              <a:r>
                <a:rPr lang="en" sz="95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Primary &amp; foreign-key constraints</a:t>
              </a:r>
              <a:endParaRPr sz="95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457200" lvl="0" indent="-288925" algn="l" rtl="0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950"/>
                <a:buFont typeface="Times New Roman"/>
                <a:buChar char="●"/>
              </a:pPr>
              <a:r>
                <a:rPr lang="en" sz="95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Views, triggers, cursors &amp; SQL queries</a:t>
              </a:r>
              <a:endParaRPr sz="95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457200" lvl="0" indent="-288925" algn="l" rtl="0">
                <a:spcBef>
                  <a:spcPts val="750"/>
                </a:spcBef>
                <a:spcAft>
                  <a:spcPts val="750"/>
                </a:spcAft>
                <a:buClr>
                  <a:srgbClr val="334155"/>
                </a:buClr>
                <a:buSzPts val="950"/>
                <a:buFont typeface="Times New Roman"/>
                <a:buChar char="●"/>
              </a:pPr>
              <a:r>
                <a:rPr lang="en" sz="95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Transaction management &amp; recovery</a:t>
              </a:r>
              <a:endParaRPr sz="95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18" name="Google Shape;218;p19"/>
          <p:cNvGrpSpPr/>
          <p:nvPr/>
        </p:nvGrpSpPr>
        <p:grpSpPr>
          <a:xfrm>
            <a:off x="4667250" y="1190625"/>
            <a:ext cx="1952700" cy="3333900"/>
            <a:chOff x="0" y="0"/>
            <a:chExt cx="1952700" cy="3333900"/>
          </a:xfrm>
        </p:grpSpPr>
        <p:sp>
          <p:nvSpPr>
            <p:cNvPr id="219" name="Google Shape;219;p19"/>
            <p:cNvSpPr/>
            <p:nvPr/>
          </p:nvSpPr>
          <p:spPr>
            <a:xfrm>
              <a:off x="0" y="0"/>
              <a:ext cx="1952700" cy="3333900"/>
            </a:xfrm>
            <a:prstGeom prst="roundRect">
              <a:avLst>
                <a:gd name="adj" fmla="val 3902"/>
              </a:avLst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9"/>
            <p:cNvSpPr/>
            <p:nvPr/>
          </p:nvSpPr>
          <p:spPr>
            <a:xfrm>
              <a:off x="0" y="0"/>
              <a:ext cx="57300" cy="3333900"/>
            </a:xfrm>
            <a:prstGeom prst="roundRect">
              <a:avLst>
                <a:gd name="adj" fmla="val 50000"/>
              </a:avLst>
            </a:prstGeom>
            <a:solidFill>
              <a:srgbClr val="4472C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9"/>
            <p:cNvSpPr txBox="1"/>
            <p:nvPr/>
          </p:nvSpPr>
          <p:spPr>
            <a:xfrm>
              <a:off x="152400" y="142875"/>
              <a:ext cx="16668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Security Layer</a:t>
              </a:r>
              <a:endParaRPr sz="1200" b="1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457200" lvl="0" indent="-288925" algn="l" rtl="0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950"/>
                <a:buFont typeface="Times New Roman"/>
                <a:buChar char="●"/>
              </a:pPr>
              <a:r>
                <a:rPr lang="en" sz="95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Role-based authentication protocols</a:t>
              </a:r>
              <a:endParaRPr sz="95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457200" lvl="0" indent="-288925" algn="l" rtl="0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950"/>
                <a:buFont typeface="Times New Roman"/>
                <a:buChar char="●"/>
              </a:pPr>
              <a:r>
                <a:rPr lang="en" sz="95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Secure password hashing</a:t>
              </a:r>
              <a:endParaRPr sz="95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457200" lvl="0" indent="-288925" algn="l" rtl="0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950"/>
                <a:buFont typeface="Times New Roman"/>
                <a:buChar char="●"/>
              </a:pPr>
              <a:r>
                <a:rPr lang="en" sz="95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Controlled access to banking operations</a:t>
              </a:r>
              <a:endParaRPr sz="95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457200" lvl="0" indent="-288925" algn="l" rtl="0">
                <a:spcBef>
                  <a:spcPts val="900"/>
                </a:spcBef>
                <a:spcAft>
                  <a:spcPts val="900"/>
                </a:spcAft>
                <a:buClr>
                  <a:srgbClr val="334155"/>
                </a:buClr>
                <a:buSzPts val="950"/>
                <a:buFont typeface="Times New Roman"/>
                <a:buChar char="●"/>
              </a:pPr>
              <a:r>
                <a:rPr lang="en" sz="95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Transaction &amp; audit traceability</a:t>
              </a:r>
              <a:endParaRPr sz="95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22" name="Google Shape;222;p19"/>
          <p:cNvGrpSpPr/>
          <p:nvPr/>
        </p:nvGrpSpPr>
        <p:grpSpPr>
          <a:xfrm>
            <a:off x="6810375" y="1190625"/>
            <a:ext cx="1952700" cy="3333900"/>
            <a:chOff x="0" y="0"/>
            <a:chExt cx="1952700" cy="3333900"/>
          </a:xfrm>
        </p:grpSpPr>
        <p:sp>
          <p:nvSpPr>
            <p:cNvPr id="223" name="Google Shape;223;p19"/>
            <p:cNvSpPr/>
            <p:nvPr/>
          </p:nvSpPr>
          <p:spPr>
            <a:xfrm>
              <a:off x="0" y="0"/>
              <a:ext cx="1952700" cy="3333900"/>
            </a:xfrm>
            <a:prstGeom prst="roundRect">
              <a:avLst>
                <a:gd name="adj" fmla="val 3902"/>
              </a:avLst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9"/>
            <p:cNvSpPr/>
            <p:nvPr/>
          </p:nvSpPr>
          <p:spPr>
            <a:xfrm>
              <a:off x="0" y="0"/>
              <a:ext cx="57300" cy="3333900"/>
            </a:xfrm>
            <a:prstGeom prst="roundRect">
              <a:avLst>
                <a:gd name="adj" fmla="val 50000"/>
              </a:avLst>
            </a:prstGeom>
            <a:solidFill>
              <a:srgbClr val="4472C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9"/>
            <p:cNvSpPr txBox="1"/>
            <p:nvPr/>
          </p:nvSpPr>
          <p:spPr>
            <a:xfrm>
              <a:off x="152400" y="142875"/>
              <a:ext cx="16668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Planned Extension</a:t>
              </a:r>
              <a:endParaRPr sz="1200" b="1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950" i="1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 support rich customer profile data:</a:t>
              </a:r>
              <a:endParaRPr sz="950" i="1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457200" lvl="0" indent="-288925" algn="l" rtl="0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950"/>
                <a:buFont typeface="Times New Roman"/>
                <a:buChar char="●"/>
              </a:pPr>
              <a:r>
                <a:rPr lang="en" sz="95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Customer photos</a:t>
              </a:r>
              <a:endParaRPr sz="95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457200" lvl="0" indent="-288925" algn="l" rtl="0">
                <a:spcBef>
                  <a:spcPts val="300"/>
                </a:spcBef>
                <a:spcAft>
                  <a:spcPts val="0"/>
                </a:spcAft>
                <a:buClr>
                  <a:srgbClr val="334155"/>
                </a:buClr>
                <a:buSzPts val="950"/>
                <a:buFont typeface="Times New Roman"/>
                <a:buChar char="●"/>
              </a:pPr>
              <a:r>
                <a:rPr lang="en" sz="95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E-signatures</a:t>
              </a:r>
              <a:endParaRPr sz="95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457200" lvl="0" indent="-288925" algn="l" rtl="0">
                <a:spcBef>
                  <a:spcPts val="300"/>
                </a:spcBef>
                <a:spcAft>
                  <a:spcPts val="0"/>
                </a:spcAft>
                <a:buClr>
                  <a:srgbClr val="334155"/>
                </a:buClr>
                <a:buSzPts val="950"/>
                <a:buFont typeface="Times New Roman"/>
                <a:buChar char="●"/>
              </a:pPr>
              <a:r>
                <a:rPr lang="en" sz="95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KYC scanned docs</a:t>
              </a:r>
              <a:endParaRPr sz="95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457200" lvl="0" indent="-288925" algn="l" rtl="0">
                <a:spcBef>
                  <a:spcPts val="300"/>
                </a:spcBef>
                <a:spcAft>
                  <a:spcPts val="0"/>
                </a:spcAft>
                <a:buClr>
                  <a:srgbClr val="334155"/>
                </a:buClr>
                <a:buSzPts val="950"/>
                <a:buFont typeface="Times New Roman"/>
                <a:buChar char="●"/>
              </a:pPr>
              <a:r>
                <a:rPr lang="en" sz="95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Document metadata</a:t>
              </a:r>
              <a:endParaRPr sz="95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Allows handling structured data alongside rich binary payloads.</a:t>
              </a:r>
              <a:endParaRPr sz="85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/>
          </a:p>
        </p:txBody>
      </p:sp>
      <p:sp>
        <p:nvSpPr>
          <p:cNvPr id="231" name="Google Shape;231;p2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997639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400" b="1">
                <a:latin typeface="Arial"/>
                <a:ea typeface="Arial"/>
                <a:cs typeface="Arial"/>
                <a:sym typeface="Arial"/>
              </a:rPr>
              <a:t>Objectives</a:t>
            </a:r>
            <a:endParaRPr sz="14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b="1">
                <a:latin typeface="Arial"/>
                <a:ea typeface="Arial"/>
                <a:cs typeface="Arial"/>
                <a:sym typeface="Arial"/>
              </a:rPr>
              <a:t>Design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 a centralized relational database for core banking operations.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b="1">
                <a:latin typeface="Arial"/>
                <a:ea typeface="Arial"/>
                <a:cs typeface="Arial"/>
                <a:sym typeface="Arial"/>
              </a:rPr>
              <a:t>Reduce data redundancy and anomalies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 through ER modeling, normalization and integrity constraints.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b="1">
                <a:latin typeface="Arial"/>
                <a:ea typeface="Arial"/>
                <a:cs typeface="Arial"/>
                <a:sym typeface="Arial"/>
              </a:rPr>
              <a:t>Implement reliable banking transactions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 using ACID properties, COMMIT, ROLLBACK and SAVEPOINT.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b="1">
                <a:latin typeface="Arial"/>
                <a:ea typeface="Arial"/>
                <a:cs typeface="Arial"/>
                <a:sym typeface="Arial"/>
              </a:rPr>
              <a:t>Maintain consistency during concurrent operations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 through concurrency control and recovery mechanisms.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b="1">
                <a:latin typeface="Arial"/>
                <a:ea typeface="Arial"/>
                <a:cs typeface="Arial"/>
                <a:sym typeface="Arial"/>
              </a:rPr>
              <a:t>Secure banking and customer data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 using authentication, authorization, password hashing and controlled access.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b="1">
                <a:latin typeface="Arial"/>
                <a:ea typeface="Arial"/>
                <a:cs typeface="Arial"/>
                <a:sym typeface="Arial"/>
              </a:rPr>
              <a:t>Integrate heterogeneous customer information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, including structured records, photographs, e-signatures and KYC documents, within the banking data architecture.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233" name="Google Shape;233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 August 2026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1"/>
          <p:cNvSpPr txBox="1">
            <a:spLocks noGrp="1"/>
          </p:cNvSpPr>
          <p:nvPr>
            <p:ph type="title"/>
          </p:nvPr>
        </p:nvSpPr>
        <p:spPr>
          <a:xfrm>
            <a:off x="469833" y="243250"/>
            <a:ext cx="7886700" cy="355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</p:txBody>
      </p:sp>
      <p:sp>
        <p:nvSpPr>
          <p:cNvPr id="239" name="Google Shape;239;p21"/>
          <p:cNvSpPr txBox="1">
            <a:spLocks noGrp="1"/>
          </p:cNvSpPr>
          <p:nvPr>
            <p:ph type="body" idx="1"/>
          </p:nvPr>
        </p:nvSpPr>
        <p:spPr>
          <a:xfrm>
            <a:off x="194686" y="795848"/>
            <a:ext cx="8752113" cy="3898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latin typeface="Arial"/>
                <a:ea typeface="Arial"/>
                <a:cs typeface="Arial"/>
                <a:sym typeface="Arial"/>
              </a:rPr>
              <a:t>References</a:t>
            </a:r>
            <a:endParaRPr sz="13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[1]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A. Navarro, </a:t>
            </a:r>
            <a:r>
              <a:rPr lang="en" sz="1100" i="1">
                <a:latin typeface="Arial"/>
                <a:ea typeface="Arial"/>
                <a:cs typeface="Arial"/>
                <a:sym typeface="Arial"/>
              </a:rPr>
              <a:t>“Fundamentals of Transaction Management in Enterprise Application Architectures,”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IEEE Access, vol. 10, pp. 124305–124332, 2022, doi: 10.1109/ACCESS.2022.3224759.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IEEE Xplore – Base Paper</a:t>
            </a:r>
            <a:endParaRPr sz="11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[2]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R. Elmasri and S. B. Navathe, </a:t>
            </a:r>
            <a:r>
              <a:rPr lang="en" sz="1100" i="1">
                <a:latin typeface="Arial"/>
                <a:ea typeface="Arial"/>
                <a:cs typeface="Arial"/>
                <a:sym typeface="Arial"/>
              </a:rPr>
              <a:t>Fundamentals of Database Systems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Pearson.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[3]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A. Silberschatz, H. F. Korth, and S. Sudarshan, </a:t>
            </a:r>
            <a:r>
              <a:rPr lang="en" sz="1100" i="1">
                <a:latin typeface="Arial"/>
                <a:ea typeface="Arial"/>
                <a:cs typeface="Arial"/>
                <a:sym typeface="Arial"/>
              </a:rPr>
              <a:t>Database System Concepts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McGraw-Hill.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[4]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MySQL, </a:t>
            </a:r>
            <a:r>
              <a:rPr lang="en" sz="1100" i="1">
                <a:latin typeface="Arial"/>
                <a:ea typeface="Arial"/>
                <a:cs typeface="Arial"/>
                <a:sym typeface="Arial"/>
              </a:rPr>
              <a:t>MySQL 8.0 Reference Manual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[5]–[14]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Your 10 verified research papers from the literature review.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330200" lvl="0" indent="-33020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, </a:t>
            </a:r>
            <a:r>
              <a:rPr lang="en"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242" name="Google Shape;242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 August 2026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262940" y="2007067"/>
            <a:ext cx="4618200" cy="112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249" name="Google Shape;249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 August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772</Words>
  <Application>Microsoft Office PowerPoint</Application>
  <PresentationFormat>On-screen Show (16:9)</PresentationFormat>
  <Paragraphs>117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SecureBank – Bank Management System</vt:lpstr>
      <vt:lpstr>Abstract </vt:lpstr>
      <vt:lpstr>Introduction </vt:lpstr>
      <vt:lpstr>PowerPoint Presentation</vt:lpstr>
      <vt:lpstr>Literature Review </vt:lpstr>
      <vt:lpstr>PowerPoint Presentation</vt:lpstr>
      <vt:lpstr>Proposed work -Explanation </vt:lpstr>
      <vt:lpstr>Objectives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JAIN (RA2411003010098)</cp:lastModifiedBy>
  <cp:revision>1</cp:revision>
  <dcterms:modified xsi:type="dcterms:W3CDTF">2026-08-12T07:19:25Z</dcterms:modified>
</cp:coreProperties>
</file>